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47E2C-036A-54F2-5955-7B235469F717}" v="160" dt="2026-02-05T11:45:28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lose-up of hopscotch on a sidewalk">
            <a:extLst>
              <a:ext uri="{FF2B5EF4-FFF2-40B4-BE49-F238E27FC236}">
                <a16:creationId xmlns:a16="http://schemas.microsoft.com/office/drawing/2014/main" id="{FF3E7856-EE8E-1A27-E94F-A4AFB67A80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380" b="735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8C1E22-E1C1-8C29-E06A-6F12CE2D8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</a:rPr>
              <a:t>Velocity Mart 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68288-F61A-FC55-B1F8-AF89FB3E8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Presentors</a:t>
            </a:r>
            <a:r>
              <a:rPr lang="en-US" sz="2000">
                <a:solidFill>
                  <a:schemeClr val="bg1"/>
                </a:solidFill>
              </a:rPr>
              <a:t>:-</a:t>
            </a:r>
            <a:endParaRPr lang="en-US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 Mann </a:t>
            </a:r>
            <a:r>
              <a:rPr lang="en-US" sz="2000" err="1">
                <a:solidFill>
                  <a:schemeClr val="bg1"/>
                </a:solidFill>
              </a:rPr>
              <a:t>Motivaras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  <a:endParaRPr lang="en-US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Emmanuel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Taha Anas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Muhammed Shahna</a:t>
            </a:r>
          </a:p>
        </p:txBody>
      </p:sp>
    </p:spTree>
    <p:extLst>
      <p:ext uri="{BB962C8B-B14F-4D97-AF65-F5344CB8AC3E}">
        <p14:creationId xmlns:p14="http://schemas.microsoft.com/office/powerpoint/2010/main" val="1856844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60D4B4-543D-FF19-EC0C-20D23BCE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The Crisis Audit (The “Why”)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694D5-A8C1-B150-914E-A2F73AEC5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300" b="1">
                <a:solidFill>
                  <a:schemeClr val="bg1"/>
                </a:solidFill>
              </a:rPr>
              <a:t>From Operational Seizure to Data-Driven Recovery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What Broke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Average fulfillment time collapsed from </a:t>
            </a: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3.8 → 6.2 minutes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Throughput degradation accelerated during peak hours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How Bad It Is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Chaos Score: 29.75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Indicates systemic operational entropy, not isolated errors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What’s at Risk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$8,400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in inventory value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Escalating customer SLA failures if uncorrected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Objective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Restore </a:t>
            </a: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3.8-minute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fulfillment baseline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Eliminate entropy drivers, not symptoms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Visual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Red </a:t>
            </a: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ALERT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card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Chaos Score: </a:t>
            </a: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29.75 (Critical)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Speaker note (optional):</a:t>
            </a:r>
            <a:br>
              <a:rPr lang="en-US" sz="13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 “This is not a labor or demand problem. It’s a physics and data integrity problem—and those are solvable.”</a:t>
            </a:r>
            <a:endParaRPr lang="en-US" sz="1300">
              <a:solidFill>
                <a:schemeClr val="bg1"/>
              </a:solidFill>
            </a:endParaRPr>
          </a:p>
          <a:p>
            <a:endParaRPr lang="en-U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40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C3B4F2-F5D3-A2F2-33DF-756836D2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Forensic Findings (The “Truth”)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D083A-D6CD-A501-88C6-522972FF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 b="1">
                <a:solidFill>
                  <a:schemeClr val="bg1"/>
                </a:solidFill>
              </a:rPr>
              <a:t>Unmasking Systemic Gaming and Data Poisoning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1. The Shortcut Paradox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GPS telemetry revealed </a:t>
            </a:r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Picker 07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671 anomalies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showing repeated safety-zone breaches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Artificially inflated efficiency metrics → poisoned routing logic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2. Decimal Drift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22 SKUs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logged with </a:t>
            </a:r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10× weight errors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Created silent overload risk on shelving infrastructure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3. Ghost Inventory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SKUs assigned to </a:t>
            </a:r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non-existent bins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Destroyed pick-path reliability and slotting accuracy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Outcome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Data integrity restored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Warehouse topology synchronized to reality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Speaker note:</a:t>
            </a:r>
            <a:br>
              <a:rPr lang="en-US" sz="15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500" b="1">
                <a:solidFill>
                  <a:schemeClr val="bg1"/>
                </a:solidFill>
                <a:ea typeface="+mn-lt"/>
                <a:cs typeface="+mn-lt"/>
              </a:rPr>
              <a:t> “When the data lies, the system optimizes in the wrong direction. We removed the lies.”</a:t>
            </a:r>
            <a:endParaRPr lang="en-US" sz="1500">
              <a:solidFill>
                <a:schemeClr val="bg1"/>
              </a:solidFill>
            </a:endParaRPr>
          </a:p>
          <a:p>
            <a:endParaRPr lang="en-US" sz="15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31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8261DE-8099-A5D2-D478-4F7B26E0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The Unspoken Physics of Aisle B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6ABFB-C498-DA70-617B-8DD541E25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Solving the 19:00 Peak Bottleneck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The Dead-Zone Discovery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When picker density in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Aisle B &gt; 2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Forklift restocking becomes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physically impossible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Why It Matters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Congestion cascades into missed picks, idle labor, and late orders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Software cannot override geometry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The Surgical Fix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Relocated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high-velocity SKUs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from Aisle B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Reassigned them to wider aisles that tolerate concurrent flow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Spoilage Resolution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Corrected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464 temperature violations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Frozen SKUs removed from ambient zones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$8,400 inventory value secured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Speaker note:</a:t>
            </a:r>
            <a:br>
              <a:rPr lang="en-US" sz="1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“This wasn’t congestion—it was a violation of physical law. Once respected, the system unlocked.”</a:t>
            </a:r>
            <a:endParaRPr lang="en-US" sz="1400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97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ABA0ED-838C-8167-3C25-490F2B67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Phase 1 Strategic Roadmap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E2312-5BD8-73FF-3E76-0045C026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solidFill>
                  <a:schemeClr val="bg1"/>
                </a:solidFill>
              </a:rPr>
              <a:t>50 High-Impact Moves for Immediate Impact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Tonight’s Mandate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Execute </a:t>
            </a:r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50 targeted SKU relocations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No increase to labor budget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Non-Negotiables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0 temperature violations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0 weight overloads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Projected Impact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82.2% entropy reduction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Chaos Score: </a:t>
            </a:r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29.75 → 5.30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What This Means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Predictable flow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Stable pick paths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Restored operational trust</a:t>
            </a:r>
            <a:endParaRPr lang="en-US" sz="1700">
              <a:solidFill>
                <a:schemeClr val="bg1"/>
              </a:solidFill>
            </a:endParaRPr>
          </a:p>
          <a:p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Speaker note:</a:t>
            </a:r>
            <a:br>
              <a:rPr lang="en-US" sz="17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700" b="1">
                <a:solidFill>
                  <a:schemeClr val="bg1"/>
                </a:solidFill>
                <a:ea typeface="+mn-lt"/>
                <a:cs typeface="+mn-lt"/>
              </a:rPr>
              <a:t> “This is not a reorg. It’s a precision strike.”</a:t>
            </a:r>
            <a:endParaRPr lang="en-US" sz="1700">
              <a:solidFill>
                <a:schemeClr val="bg1"/>
              </a:solidFill>
            </a:endParaRPr>
          </a:p>
          <a:p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35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21BC47-1DAA-41BD-BE0B-A61A59370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1" y="685800"/>
            <a:ext cx="4063908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EFD49-6D9A-35C4-07FA-D2F14C13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37" y="1371600"/>
            <a:ext cx="2908763" cy="4114801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>
                    <a:alpha val="60000"/>
                  </a:schemeClr>
                </a:solidFill>
                <a:ea typeface="+mj-lt"/>
                <a:cs typeface="+mj-lt"/>
              </a:rPr>
              <a:t>Resilience &amp; Scalability</a:t>
            </a:r>
            <a:endParaRPr lang="en-US" sz="32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B23A-85C5-D9B8-95FC-7E116E16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652" y="685801"/>
            <a:ext cx="5839262" cy="54863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Future-Proofing for a 20% Volume Surge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Stress Test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Simulated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+20% order volume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Up to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523,262 orders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Result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Thinned Aisle B prevents operational seizure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No forklift deadlock at peak density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ROI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Fulfillment time returns to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3.8 minutes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Achievable within 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24 hours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of implementation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Bottom Line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Recovery first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Scale second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Chaos never again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Speaker note:</a:t>
            </a:r>
            <a:br>
              <a:rPr lang="en-US" sz="1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“We didn’t just fix today—we removed tomorrow’s failure mode.”</a:t>
            </a:r>
            <a:endParaRPr lang="en-US" sz="1400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903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2A6AC3-A5EB-4E50-B460-8B0A428F3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61CCD-97DF-93AC-CD42-FA9F9B2E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2057044"/>
            <a:ext cx="9792469" cy="1293788"/>
          </a:xfrm>
        </p:spPr>
        <p:txBody>
          <a:bodyPr anchor="ctr">
            <a:normAutofit/>
          </a:bodyPr>
          <a:lstStyle/>
          <a:p>
            <a:pPr algn="ctr"/>
            <a:endParaRPr lang="en-US" sz="4000"/>
          </a:p>
        </p:txBody>
      </p:sp>
      <p:pic>
        <p:nvPicPr>
          <p:cNvPr id="13" name="Graphic 12" descr="Smiling Face with No Fill">
            <a:extLst>
              <a:ext uri="{FF2B5EF4-FFF2-40B4-BE49-F238E27FC236}">
                <a16:creationId xmlns:a16="http://schemas.microsoft.com/office/drawing/2014/main" id="{2FC1DC4D-5371-D0AF-D2A6-BD1597016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933" y="561617"/>
            <a:ext cx="1286928" cy="12869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7BFC0-5329-F923-8997-4FE3374D8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3514855"/>
            <a:ext cx="9792469" cy="260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76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Velocity Mart Board</vt:lpstr>
      <vt:lpstr>The Crisis Audit (The “Why”)</vt:lpstr>
      <vt:lpstr>Forensic Findings (The “Truth”)</vt:lpstr>
      <vt:lpstr>The Unspoken Physics of Aisle B</vt:lpstr>
      <vt:lpstr>Phase 1 Strategic Roadmap</vt:lpstr>
      <vt:lpstr>Resilience &amp; Scalability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64</cp:revision>
  <dcterms:created xsi:type="dcterms:W3CDTF">2026-02-05T11:32:54Z</dcterms:created>
  <dcterms:modified xsi:type="dcterms:W3CDTF">2026-02-05T11:45:47Z</dcterms:modified>
</cp:coreProperties>
</file>